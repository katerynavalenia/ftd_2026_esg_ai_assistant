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6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Chunks</c:v>
                </c:pt>
              </c:strCache>
            </c:strRef>
          </c:tx>
          <c:spPr>
            <a:solidFill>
              <a:srgbClr val="1B3A2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3A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88E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CAF5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6BB6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1C78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5D6A7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1B3A2D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TotalEnrg.</c:v>
                </c:pt>
                <c:pt idx="1">
                  <c:v>Danone</c:v>
                </c:pt>
                <c:pt idx="2">
                  <c:v>Airbus</c:v>
                </c:pt>
                <c:pt idx="3">
                  <c:v>BNP Par.</c:v>
                </c:pt>
                <c:pt idx="4">
                  <c:v>ENGIE</c:v>
                </c:pt>
                <c:pt idx="5">
                  <c:v>L'Oreal</c:v>
                </c:pt>
                <c:pt idx="6">
                  <c:v>VW</c:v>
                </c:pt>
                <c:pt idx="7">
                  <c:v>Siemens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1430</c:v>
                </c:pt>
                <c:pt idx="1">
                  <c:v>1180</c:v>
                </c:pt>
                <c:pt idx="2">
                  <c:v>1050</c:v>
                </c:pt>
                <c:pt idx="3">
                  <c:v>1200</c:v>
                </c:pt>
                <c:pt idx="4">
                  <c:v>980</c:v>
                </c:pt>
                <c:pt idx="5">
                  <c:v>1100</c:v>
                </c:pt>
                <c:pt idx="6">
                  <c:v>930</c:v>
                </c:pt>
                <c:pt idx="7">
                  <c:v>999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8fea03b-3ec5-4599-a131-35799b0574a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474720" cy="3474720"/>
          </a:xfrm>
          <a:prstGeom prst="ellipse">
            <a:avLst/>
          </a:prstGeom>
          <a:solidFill>
            <a:srgbClr val="2E7D32">
              <a:alpha val="28000"/>
            </a:srgbClr>
          </a:solidFill>
          <a:ln w="12700">
            <a:solidFill>
              <a:srgbClr val="2E7D3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548640"/>
            <a:ext cx="2011680" cy="2011680"/>
          </a:xfrm>
          <a:prstGeom prst="ellipse">
            <a:avLst/>
          </a:prstGeom>
          <a:solidFill>
            <a:srgbClr val="66BB6A">
              <a:alpha val="40000"/>
            </a:srgbClr>
          </a:solidFill>
          <a:ln w="12700">
            <a:solidFill>
              <a:srgbClr val="66BB6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ESG AI Assistant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CSRD Compliance Q&amp;A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Retrieval-Augmented Generation over Corporate Sustainability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114800" cy="36576"/>
          </a:xfrm>
          <a:prstGeom prst="rect">
            <a:avLst/>
          </a:prstGeom>
          <a:solidFill>
            <a:srgbClr val="66BB6A">
              <a:alpha val="50000"/>
            </a:srgbClr>
          </a:solidFill>
          <a:ln w="12700">
            <a:solidFill>
              <a:srgbClr val="66BB6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alt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Valenia Khrystyna Kateryna </a:t>
            </a:r>
            <a:r>
              <a:rPr 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en-US" alt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Cotarta Anca </a:t>
            </a:r>
            <a:r>
              <a:rPr 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</a:t>
            </a:r>
            <a:r>
              <a:rPr lang="en-US" alt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Huang Jiayu</a:t>
            </a:r>
            <a:r>
              <a:rPr 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474720" cy="3474720"/>
          </a:xfrm>
          <a:prstGeom prst="ellipse">
            <a:avLst/>
          </a:prstGeom>
          <a:solidFill>
            <a:srgbClr val="2E7D32">
              <a:alpha val="28000"/>
            </a:srgbClr>
          </a:solidFill>
          <a:ln w="12700">
            <a:solidFill>
              <a:srgbClr val="2E7D32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548640"/>
            <a:ext cx="2011680" cy="2011680"/>
          </a:xfrm>
          <a:prstGeom prst="ellipse">
            <a:avLst/>
          </a:prstGeom>
          <a:solidFill>
            <a:srgbClr val="66BB6A">
              <a:alpha val="40000"/>
            </a:srgbClr>
          </a:solidFill>
          <a:ln w="12700">
            <a:solidFill>
              <a:srgbClr val="66BB6A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046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ESG AI Assistant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CSRD Compliance Q&amp;A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Retrieval-Augmented Generation over Corporate Sustainability Reports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114800" cy="36576"/>
          </a:xfrm>
          <a:prstGeom prst="rect">
            <a:avLst/>
          </a:prstGeom>
          <a:solidFill>
            <a:srgbClr val="66BB6A">
              <a:alpha val="50000"/>
            </a:srgbClr>
          </a:solidFill>
          <a:ln w="12700">
            <a:solidFill>
              <a:srgbClr val="66BB6A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70332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alt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Valenia Khrystyna Kateryna </a:t>
            </a:r>
            <a:r>
              <a:rPr 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</a:t>
            </a:r>
            <a:r>
              <a:rPr lang="en-US" alt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Cotarta Anca </a:t>
            </a:r>
            <a:r>
              <a:rPr 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| </a:t>
            </a:r>
            <a:r>
              <a:rPr lang="en-US" alt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Huang Jiayu</a:t>
            </a:r>
            <a:r>
              <a:rPr lang="en-US" sz="12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09728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280160"/>
            <a:ext cx="475488" cy="475488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801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70432" y="1115568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&amp; Context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70432" y="15087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CSRD challenge and motivation for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09728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280160"/>
            <a:ext cx="475488" cy="475488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8016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68112" y="1115568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68112" y="150876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 and scope of 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67712"/>
            <a:ext cx="4023360" cy="109728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542032"/>
            <a:ext cx="475488" cy="475488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42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0432" y="237744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70432" y="277063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RAG pipeline overview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67712"/>
            <a:ext cx="4023360" cy="109728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542032"/>
            <a:ext cx="475488" cy="475488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5420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68112" y="2377440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&amp; Indexing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68112" y="2770632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companies, chunking, FAISS embeddings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9584"/>
            <a:ext cx="4023360" cy="109728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803904"/>
            <a:ext cx="475488" cy="475488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039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0432" y="3639312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70432" y="4032504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 responses &amp; Ragas evaluation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9584"/>
            <a:ext cx="4023360" cy="109728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803904"/>
            <a:ext cx="475488" cy="475488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8039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68112" y="3639312"/>
            <a:ext cx="3200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&amp; 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68112" y="4032504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application and key outcomes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CSRD Challenge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77640" cy="3246120"/>
          </a:xfrm>
          <a:prstGeom prst="rect">
            <a:avLst/>
          </a:prstGeom>
          <a:solidFill>
            <a:srgbClr val="1F4A35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005840"/>
            <a:ext cx="3977640" cy="3246120"/>
          </a:xfrm>
          <a:prstGeom prst="rect">
            <a:avLst/>
          </a:prstGeom>
          <a:solidFill>
            <a:srgbClr val="1F4A35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CSRD?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3566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AI?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566160" cy="2606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EU Corporate Sustainability Reporting Directive (2024)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Mandatory ESG disclosure for 50,000+ companies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Covers climate, biodiversity, social &amp; governance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Replaces Non-Financial Reporting Directive (NFRD)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Applies to large companies and listed SMEs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508760"/>
            <a:ext cx="3566160" cy="2606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span 100–500+ pages per company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analysis is slow and error-prone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Stakeholders need fast, precise answers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grounds answers in actual report text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search finds relevant passages instantly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6BB6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50,000+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companies affected by CSRD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434340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6BB6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100–500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212080" y="47548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 per report on average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Project Goal &amp; Requirements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078992"/>
            <a:ext cx="78181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Goal: </a:t>
            </a:r>
            <a:r>
              <a:rPr lang="en-US" sz="13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an AI assistant that answers CSRD and ESG questions grounded exclusively in indexed corporate sustainability reports — using Retrieval-Augmented Generation (RAG) with the Albert API.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84832"/>
            <a:ext cx="260604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86000"/>
            <a:ext cx="2423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98094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364992"/>
            <a:ext cx="1508760" cy="27432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423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sustainability reports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at least 5 companies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Delivered: 8 companies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084832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084832"/>
            <a:ext cx="260604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286000"/>
            <a:ext cx="2423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Real-time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83280" y="298094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3364992"/>
            <a:ext cx="1508760" cy="27432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3456432"/>
            <a:ext cx="2423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responses streamed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token-by-token via SSE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live UI feedback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084832"/>
            <a:ext cx="26060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084832"/>
            <a:ext cx="260604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286000"/>
            <a:ext cx="24231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 Metrics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17920" y="2980944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Ragas Eval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0" y="3364992"/>
            <a:ext cx="1508760" cy="27432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456432"/>
            <a:ext cx="24231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Faithfulness, answer relevancy,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precision &amp; recall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PASS/FAIL targets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RAG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298448"/>
            <a:ext cx="1234440" cy="14173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" y="1344168"/>
            <a:ext cx="116128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92608" y="2075688"/>
            <a:ext cx="11612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companies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490472" y="1993392"/>
            <a:ext cx="201168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9072" y="1298448"/>
            <a:ext cx="1234440" cy="14173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55648" y="1344168"/>
            <a:ext cx="116128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Parser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755648" y="2075688"/>
            <a:ext cx="11612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PyMuPDF / fitz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53512" y="1993392"/>
            <a:ext cx="201168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298448"/>
            <a:ext cx="1234440" cy="14173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18688" y="1344168"/>
            <a:ext cx="116128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FAISS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18688" y="2075688"/>
            <a:ext cx="11612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bge-m3 / 1024-dim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16552" y="1993392"/>
            <a:ext cx="201168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152" y="1298448"/>
            <a:ext cx="1234440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81728" y="1344168"/>
            <a:ext cx="116128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81728" y="2075688"/>
            <a:ext cx="11612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  top-k=6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879592" y="1993392"/>
            <a:ext cx="201168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1298448"/>
            <a:ext cx="1234440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44768" y="1344168"/>
            <a:ext cx="116128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Albert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API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44768" y="2075688"/>
            <a:ext cx="11612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Mistral Small / SSE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42632" y="1993392"/>
            <a:ext cx="201168" cy="45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71232" y="1298448"/>
            <a:ext cx="1234440" cy="141732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07808" y="1344168"/>
            <a:ext cx="116128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607808" y="2075688"/>
            <a:ext cx="116128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App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2880360"/>
            <a:ext cx="3337560" cy="347472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880360"/>
            <a:ext cx="33375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— Build Phase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880360"/>
            <a:ext cx="4114800" cy="347472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88036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— Query Phase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401568"/>
            <a:ext cx="33375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1480" y="3493008"/>
            <a:ext cx="301752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Build: </a:t>
            </a: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</a:t>
            </a:r>
            <a:r>
              <a:rPr lang="en-US" sz="11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vector_index.py build</a:t>
            </a: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once to parse PDFs, chunk text, embed with BAAI/bge-m3 and save the FAISS index to disk.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401568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28032" y="3493008"/>
            <a:ext cx="3794760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Query: </a:t>
            </a: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user question is embedded, the top-6 chunks are retrieved from FAISS, and the Albert API streams a grounded answer token-by-token back to Streamlit.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3.11  ·  FAISS  ·  Albert API  ·  Streamlit  ·  Ragas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Company Sustainability Reports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24128"/>
            <a:ext cx="19385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24128"/>
            <a:ext cx="19385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TotalEnergies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61848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Energy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1,430 chunks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24128"/>
            <a:ext cx="19385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24128"/>
            <a:ext cx="19385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88720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Danone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0" y="161848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Food &amp; Bev.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1984248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1,180 chunks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1024128"/>
            <a:ext cx="19385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24128"/>
            <a:ext cx="19385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188720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Airbus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161848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Aerospace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1984248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1,050 chunks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024128"/>
            <a:ext cx="19385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024128"/>
            <a:ext cx="19385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188720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BNP Paribas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0" y="161848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1984248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1,200 chunks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715768"/>
            <a:ext cx="19385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15768"/>
            <a:ext cx="19385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880360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1480" y="33101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Utilities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675888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980 chunks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68880" y="2715768"/>
            <a:ext cx="19385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68880" y="2715768"/>
            <a:ext cx="19385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2880360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L'Oreal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560320" y="33101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Consumer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60320" y="3675888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1,100 chunks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2715768"/>
            <a:ext cx="19385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715768"/>
            <a:ext cx="19385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880360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Volkswagen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09160" y="33101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Automotive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3675888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930 chunks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66560" y="2715768"/>
            <a:ext cx="193852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2715768"/>
            <a:ext cx="1938528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2880360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Siemens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858000" y="3310128"/>
            <a:ext cx="175564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Industrial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3675888"/>
            <a:ext cx="17556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999 chunks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4526280"/>
            <a:ext cx="8503920" cy="475488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4526280"/>
            <a:ext cx="85039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Companies  ·  2024 CSRD Reports  ·  8,869 Total Chunks  ·  BAAI/bge-m3 Embeddings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Vector Indexing &amp; Embeddings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15568"/>
            <a:ext cx="438912" cy="438912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1556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051560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Parse PDFs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371600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PyMuPDF (fitz) extracts raw text page by page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65376"/>
            <a:ext cx="438912" cy="438912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6537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801368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Chunk 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24128" y="2121408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~500 tokens / chunk, 50-token overlap, min 200 tokens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438912" cy="438912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151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551176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Embed Chunks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" y="2871216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BAAI/bge-m3 via Albert API → 1024-dimensional vectors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438912" cy="438912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6499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300984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Normalize &amp; Index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3621024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L2-normalize → FAISS IndexFlatIP (cosine similarity)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438912" cy="438912"/>
          </a:xfrm>
          <a:prstGeom prst="ellipse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1480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4050792"/>
            <a:ext cx="4160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Save Index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24128" y="4370832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faiss.index + metadata.jsonl + config.json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1024128"/>
            <a:ext cx="3154680" cy="37947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1115568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Stats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715000" y="1609344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8,869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715000" y="193852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chunks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15000" y="2249424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1,024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715000" y="257860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 dimensions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715000" y="2889504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~500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715000" y="321868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 per chunk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15000" y="3529584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Cosine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715000" y="385876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 metric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15000" y="4169664"/>
            <a:ext cx="2880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FAISS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715000" y="4498848"/>
            <a:ext cx="2880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IndexFlatIP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RAG Pipeline: How It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87552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87552"/>
            <a:ext cx="2651760" cy="7772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24128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77824" y="111556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2377440" cy="2944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 user question with BAAI/bge-m3</a:t>
            </a:r>
            <a:endParaRPr lang="en-US" sz="11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FAISS index for top-k = 6 chunks</a:t>
            </a:r>
            <a:endParaRPr lang="en-US" sz="11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company filter applied</a:t>
            </a:r>
            <a:endParaRPr lang="en-US" sz="11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 chunks with relevance scores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82112" y="987552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987552"/>
            <a:ext cx="265176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024128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712464" y="111556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64992" y="1901952"/>
            <a:ext cx="2377440" cy="2944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retrieved chunks as context [1]…[6]</a:t>
            </a:r>
            <a:endParaRPr lang="en-US" sz="11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 citation, section title, and text</a:t>
            </a:r>
            <a:endParaRPr lang="en-US" sz="11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prompt enforces grounding rules</a:t>
            </a:r>
            <a:endParaRPr lang="en-US" sz="11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external knowledge permitted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16752" y="987552"/>
            <a:ext cx="26517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6752" y="987552"/>
            <a:ext cx="265176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08192" y="1024128"/>
            <a:ext cx="4572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47104" y="1115568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99632" y="1901952"/>
            <a:ext cx="2377440" cy="2944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to Mistral Small via Albert API</a:t>
            </a:r>
            <a:endParaRPr lang="en-US" sz="11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 SSE tokens in real-time</a:t>
            </a:r>
            <a:endParaRPr lang="en-US" sz="11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cites sources as [1], [2], etc.</a:t>
            </a:r>
            <a:endParaRPr lang="en-US" sz="1150" dirty="0"/>
          </a:p>
          <a:p>
            <a:pPr marL="342900" indent="-342900" algn="l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st.write_stream() renders live in UI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New Features Implemented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47472" y="987552"/>
            <a:ext cx="4114800" cy="4005072"/>
          </a:xfrm>
          <a:prstGeom prst="rect">
            <a:avLst/>
          </a:prstGeom>
          <a:solidFill>
            <a:srgbClr val="1F4A35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987552"/>
            <a:ext cx="4114800" cy="10058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81728" y="987552"/>
            <a:ext cx="4114800" cy="4005072"/>
          </a:xfrm>
          <a:prstGeom prst="rect">
            <a:avLst/>
          </a:prstGeom>
          <a:solidFill>
            <a:srgbClr val="1F4A35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81728" y="987552"/>
            <a:ext cx="4114800" cy="100584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33856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 LLM Responses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536192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stream_chat() added to AlbertClient in csrd_chat.py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" y="1883664"/>
            <a:ext cx="3840480" cy="1572768"/>
          </a:xfrm>
          <a:prstGeom prst="rect">
            <a:avLst/>
          </a:prstGeom>
          <a:solidFill>
            <a:srgbClr val="0D2618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38528"/>
            <a:ext cx="3611880" cy="1444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Parses SSE token stream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 line in resp.iter_lines():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'data: ' in line: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tok = json.loads(line[6:])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content = tok['choices'][0]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['delta']['content']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yield content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547872"/>
            <a:ext cx="37490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stream_answer()</a:t>
            </a: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in RAGEngine returns (sources, token_generator). Streamlit renders tokens live via </a:t>
            </a:r>
            <a:r>
              <a:rPr lang="en-US" sz="1200" b="1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st.write_stream()</a:t>
            </a:r>
            <a:r>
              <a:rPr lang="en-US" sz="120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133856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Ragas Evaluation Metrics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1536192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quality metrics with automatic PASS/FAIL scoring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28032" y="1883664"/>
            <a:ext cx="3730752" cy="694944"/>
          </a:xfrm>
          <a:prstGeom prst="rect">
            <a:avLst/>
          </a:prstGeom>
          <a:solidFill>
            <a:srgbClr val="0D2618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1883664"/>
            <a:ext cx="73152" cy="71323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92624" y="1929384"/>
            <a:ext cx="25603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Faithfulness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92624" y="224942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grounded in context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27264" y="2011680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0.85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28032" y="2578608"/>
            <a:ext cx="3730752" cy="694944"/>
          </a:xfrm>
          <a:prstGeom prst="rect">
            <a:avLst/>
          </a:prstGeom>
          <a:solidFill>
            <a:srgbClr val="0D2618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8032" y="2578608"/>
            <a:ext cx="73152" cy="71323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92624" y="2624328"/>
            <a:ext cx="25603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Relevancy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92624" y="294436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Directly addresses the question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27264" y="2706624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0.80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28032" y="3273552"/>
            <a:ext cx="3730752" cy="694944"/>
          </a:xfrm>
          <a:prstGeom prst="rect">
            <a:avLst/>
          </a:prstGeom>
          <a:solidFill>
            <a:srgbClr val="0D2618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3273552"/>
            <a:ext cx="73152" cy="71323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3319272"/>
            <a:ext cx="25603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Precision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92624" y="363931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Retrieved chunks are relevant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27264" y="3401568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0.75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28032" y="3968496"/>
            <a:ext cx="3730752" cy="694944"/>
          </a:xfrm>
          <a:prstGeom prst="rect">
            <a:avLst/>
          </a:prstGeom>
          <a:solidFill>
            <a:srgbClr val="0D2618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8032" y="3968496"/>
            <a:ext cx="73152" cy="71323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4014216"/>
            <a:ext cx="256032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Recall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92624" y="433425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relevant info retrieved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827264" y="4096512"/>
            <a:ext cx="658368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0.70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64608" y="4681728"/>
            <a:ext cx="37490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5D6A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Run:  python evaluate_rag.py --ragas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Streamlit Web Application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05840"/>
            <a:ext cx="2697480" cy="38862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060704"/>
            <a:ext cx="2514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SIDEBAR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 &amp; Settings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Company: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44752" y="166420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companies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Model: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44752" y="20116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Mistral Small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3591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Top-K: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44752" y="23591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passages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2331720" cy="182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16352"/>
            <a:ext cx="2423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Indexed companies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10896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TotalEnergies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6928" y="3310128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Danone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" y="351129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Airbus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" y="3712464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BNP Paribas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66928" y="3913632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4114800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L'Oreal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4315968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Volkswagen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451713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Siemens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82112" y="1005840"/>
            <a:ext cx="559612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10128" y="1097280"/>
            <a:ext cx="5349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ESG AI Assistant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10128" y="1463040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questions about CSRD compliance, GHG emissions, social commitments...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80560" y="1828800"/>
            <a:ext cx="411480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86537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are Danone's GHG emission targets?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46120" y="2267712"/>
            <a:ext cx="5394960" cy="96012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313432"/>
            <a:ext cx="5212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According to Danone's 2024 sustainability report [1], the company targets a 30% reduction in Scope 1 and 2 emissions by 2030 (vs. 2020 baseline) and net-zero across all scopes by 2050...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46120" y="3319272"/>
            <a:ext cx="539496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337560"/>
            <a:ext cx="52120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  Sources (6 passages) — click to expand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46120" y="4572000"/>
            <a:ext cx="5394960" cy="256032"/>
          </a:xfrm>
          <a:prstGeom prst="rect">
            <a:avLst/>
          </a:prstGeom>
          <a:solidFill>
            <a:srgbClr val="F8F9FA"/>
          </a:solidFill>
          <a:ln w="12700">
            <a:solidFill>
              <a:srgbClr val="CED4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4590288"/>
            <a:ext cx="5212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a CSRD or ESG question...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streamlit run app.py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Evaluation Framework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evaluate_rag.py — 12 built-in CSRD questions across all indexed companies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234440"/>
            <a:ext cx="91440" cy="1719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9903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Faithfulness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136392" y="1417320"/>
            <a:ext cx="11155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&gt; 0.85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1947672"/>
            <a:ext cx="363931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the answer supported by the retrieved context? Checks that every claim can be traced back to a source passage.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5152" y="123444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1234440"/>
            <a:ext cx="91440" cy="1719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399032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Answer Relevancy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34072" y="1417320"/>
            <a:ext cx="11155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&gt; 0.80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947672"/>
            <a:ext cx="363931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the answer directly address the question? Measures how on-topic and complete the response 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3136392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136392"/>
            <a:ext cx="91440" cy="1719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300984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Context Precision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36392" y="3319272"/>
            <a:ext cx="11155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&gt; 0.75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" y="3849624"/>
            <a:ext cx="363931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Were the right passages retrieved? Measures the proportion of retrieved chunks that are actually relevant.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45152" y="3136392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45152" y="3136392"/>
            <a:ext cx="91440" cy="17190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300984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Context Recall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34072" y="3319272"/>
            <a:ext cx="111556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Target: &gt; 0.70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3849624"/>
            <a:ext cx="363931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Were all relevant passages found? Measures how much of the needed context was included in retrieval.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4773168"/>
            <a:ext cx="8430768" cy="301752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773168"/>
            <a:ext cx="8430768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Judge LLM: Mistral Small via Albert API  ·  Embeddings: BAAI/bge-m3  ·  Framework: Ragas 0.2+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B3A2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Key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" y="1024128"/>
            <a:ext cx="1965960" cy="141732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069848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0352" y="1801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15184" y="1024128"/>
            <a:ext cx="1965960" cy="141732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06624" y="1069848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8,869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06624" y="1801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Chunks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91456" y="1024128"/>
            <a:ext cx="1965960" cy="141732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82896" y="1069848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1,024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882896" y="1801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67728" y="1024128"/>
            <a:ext cx="1965960" cy="1417320"/>
          </a:xfrm>
          <a:prstGeom prst="rect">
            <a:avLst/>
          </a:prstGeom>
          <a:solidFill>
            <a:srgbClr val="EEF6EE"/>
          </a:solidFill>
          <a:ln w="12700">
            <a:solidFill>
              <a:srgbClr val="C8E6C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59168" y="1069848"/>
            <a:ext cx="17830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7059168" y="1801368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47472" y="2578608"/>
          <a:ext cx="8430768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926080"/>
            <a:ext cx="3840480" cy="3840480"/>
          </a:xfrm>
          <a:prstGeom prst="ellipse">
            <a:avLst/>
          </a:prstGeom>
          <a:solidFill>
            <a:srgbClr val="2E7D32">
              <a:alpha val="20000"/>
            </a:srgbClr>
          </a:solidFill>
          <a:ln w="12700">
            <a:solidFill>
              <a:srgbClr val="2E7D3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914400"/>
            <a:ext cx="2926080" cy="2926080"/>
          </a:xfrm>
          <a:prstGeom prst="ellipse">
            <a:avLst/>
          </a:prstGeom>
          <a:solidFill>
            <a:srgbClr val="66BB6A">
              <a:alpha val="25000"/>
            </a:srgbClr>
          </a:solidFill>
          <a:ln w="12700">
            <a:solidFill>
              <a:srgbClr val="66BB6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498848" y="1024128"/>
            <a:ext cx="36576" cy="3703320"/>
          </a:xfrm>
          <a:prstGeom prst="rect">
            <a:avLst/>
          </a:prstGeom>
          <a:solidFill>
            <a:srgbClr val="2E7D32">
              <a:alpha val="55000"/>
            </a:srgbClr>
          </a:solidFill>
          <a:ln w="12700">
            <a:solidFill>
              <a:srgbClr val="2E7D32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51560"/>
            <a:ext cx="3749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was delivered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374904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companies indexed (5 required)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RAG pipeline — FAISS + Albert API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 LLM responses via SSE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web UI with live token output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Ragas evaluation with 4 quality metrics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CSV output with PASS/FAIL summary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54880" y="1051560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BB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Possible next steps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1481328"/>
            <a:ext cx="3977640" cy="2560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Schneider Electric &amp; Iberdrola PDFs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Rebuild API index with real bge-m3 embeddings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Multi-turn conversation memory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BM25 + dense retrieval</a:t>
            </a:r>
            <a:endParaRPr lang="en-US" sz="125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1FAE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to Streamlit Cloud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66BB6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  ·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6135</Words>
  <Application>WPS Presentation</Application>
  <PresentationFormat>On-screen Show (16:9)</PresentationFormat>
  <Paragraphs>456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AI Assistant – CSRD Q&amp;A System</dc:title>
  <dc:creator>ESG AI Team</dc:creator>
  <dc:subject>PptxGenJS Presentation</dc:subject>
  <cp:lastModifiedBy>katri</cp:lastModifiedBy>
  <cp:revision>3</cp:revision>
  <dcterms:created xsi:type="dcterms:W3CDTF">2026-05-25T07:26:00Z</dcterms:created>
  <dcterms:modified xsi:type="dcterms:W3CDTF">2026-05-25T12:40:37Z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3F8D475FA1144E8494640D299444D42A_12</vt:lpwstr>
  </property>
  <property fmtid="{D5CDD505-2E9C-101B-9397-08002B2CF9AE}" pid="3" name="KSOProductBuildVer">
    <vt:lpwstr>1033-12.2.0.23202</vt:lpwstr>
  </property>
</Properties>
</file>